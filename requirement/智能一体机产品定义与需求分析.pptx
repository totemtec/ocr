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2" r:id="rId13"/>
    <p:sldId id="264" r:id="rId14"/>
    <p:sldId id="274" r:id="rId15"/>
    <p:sldId id="275" r:id="rId16"/>
    <p:sldId id="266" r:id="rId17"/>
    <p:sldId id="268" r:id="rId18"/>
    <p:sldId id="279" r:id="rId19"/>
    <p:sldId id="270" r:id="rId20"/>
    <p:sldId id="276" r:id="rId21"/>
    <p:sldId id="277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92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92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智能一体机的产品定义与需求分析报告会。在今天的分享中，我们将深入探讨智能一体机的定义、市场定位、应用场景、技术架构以及具体的需求分解。希望通过这次报告，能让大家对这一前沿产品有一个全面而深入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四个部分。首先，我们将明确智能一体机的产品定义及其技术演进路径。其次，我们会深入分析几个典型的应用场景，展示其实际价值。接着，我们将探讨其背后的技术架构设计。最后，我们会介绍如何将宏观需求分解为具体的开发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现在，我们进入第一部分：产品定义。在这一章，我们将探讨智能一体机的核心概念，以及它是如何从简单的物理集成，一步步演进到今天具备自主决策能力的智能终端的。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智能一体机的发展经历了三个关键阶段。最初是物理集成，就像我们熟悉的AIO电脑，主要解决空间和布线问题。然后进入感知融合阶段，集成了摄像头、麦克风等，实现了更自然的交互，如智能会议平板。而现在，我们正处在自主决策阶段，设备内置AI芯片，能够在本地进行复杂计算和决策，大大提升了响应速度和数据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接下来，我们进入第二部分：场景分析。在这一章，我们将深入几个典型的应用场景，看看智能一体机是如何解决实际问题，并创造价值的。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智能制造领域。传统的人工质检效率低、精度差。工业AI检测一体机通过高速图像采集和AI缺陷识别，能够以远超人工的速度和精度进行质量检测，并自动联动机械臂进行分拣。这不仅将检测效率提升了10倍以上，更显著降低了产品的不良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智能制造领域。传统的人工质检效率低、精度差。工业AI检测一体机通过高速图像采集和AI缺陷识别，能够以远超人工的速度和精度进行质量检测，并自动联动机械臂进行分拣。这不仅将检测效率提升了10倍以上，更显著降低了产品的不良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智能制造领域。传统的人工质检效率低、精度差。工业AI检测一体机通过高速图像采集和AI缺陷识别，能够以远超人工的速度和精度进行质量检测，并自动联动机械臂进行分拣。这不仅将检测效率提升了10倍以上，更显著降低了产品的不良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了解了应用场景后，我们来深入探讨第三部分：架构设计。一个强大的产品背后必然有坚实的技术架构支撑。我们将从总体架构、硬件架构和软件架构三个层面来解析智能一体机。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硬件层面，我们采用异构计算设计。这意味着我们将不同的计算单元，如负责通用任务的CPU和专门加速AI计算的NPU，集成在一起。例如，我们可能会选用瑞芯微的RK3588作为主控，并搭配华为昇腾的AI加速卡，这样可以在保证性能的同时，实现最佳的能效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软件架构方面，我们采用模块化和容器化设计，基于Linux或鸿蒙OS，利用Docker和Kubernetes进行应用部署和管理。AI框架则集成了业界主流的推理引擎。更重要的是云边端协同，端侧负责实时处理，云端负责模型训练和全局管理，两者通过模型下发和数据回传等机制紧密配合，形成一个完整的智能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最后，我们进入第四部分：模块需求分解。一个好的产品需要将宏观需求转化为可执行、可测试的具体任务。在这一章，我们将介绍如何运用科学的方法论来分解需求。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UX设计围绕四个核心目标展开：效率、易学性、容错性和满意度。为了实现这些目标，我们遵循四大设计原则：一致性、反馈、清晰和可访问性。例如，通过保持界面元素和交互方式的一致性，可以大大降低用户的学习成本；通过提供即时反馈，可以让用户始终掌控操作状态。这些原则将贯穿我们产品设计的每一个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智能制造领域。传统的人工质检效率低、精度差。工业AI检测一体机通过高速图像采集和AI缺陷识别，能够以远超人工的速度和精度进行质量检测，并自动联动机械臂进行分拣。这不仅将检测效率提升了10倍以上，更显著降低了产品的不良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我的报告到此结束，感谢大家的聆听。现在是问答环节，欢迎大家提问交流。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37.xml"/><Relationship Id="rId35" Type="http://schemas.openxmlformats.org/officeDocument/2006/relationships/tags" Target="../tags/tag36.xml"/><Relationship Id="rId34" Type="http://schemas.openxmlformats.org/officeDocument/2006/relationships/tags" Target="../tags/tag35.xml"/><Relationship Id="rId33" Type="http://schemas.openxmlformats.org/officeDocument/2006/relationships/image" Target="../media/image14.svg"/><Relationship Id="rId32" Type="http://schemas.openxmlformats.org/officeDocument/2006/relationships/image" Target="../media/image13.png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tags" Target="../tags/tag14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13.xml"/><Relationship Id="rId19" Type="http://schemas.openxmlformats.org/officeDocument/2006/relationships/image" Target="../media/image10.svg"/><Relationship Id="rId18" Type="http://schemas.openxmlformats.org/officeDocument/2006/relationships/image" Target="../media/image9.png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tags" Target="../tags/tag1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image" Target="../media/image41.svg"/><Relationship Id="rId13" Type="http://schemas.openxmlformats.org/officeDocument/2006/relationships/image" Target="../media/image40.png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image" Target="../media/image37.sv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1270000" y="5080000"/>
            <a:ext cx="3302000" cy="330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2413000"/>
            <a:ext cx="1143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智能质检终端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0-1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层需求分析与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431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0" i="0" u="none" strike="noStrike" spc="4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方立准研发</a:t>
            </a:r>
            <a:r>
              <a:rPr lang="zh-CN" altLang="en-US" sz="2800" b="0" i="0" u="none" strike="noStrike" spc="4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</a:t>
            </a:r>
            <a:endParaRPr lang="zh-CN" altLang="en-US" sz="2800" b="0" i="0" u="none" strike="noStrike" spc="400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" y="56515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智能融合 · 重塑交互体验 · 共创</a:t>
            </a:r>
            <a:r>
              <a:rPr lang="zh-CN" alt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</a:t>
            </a:r>
            <a:r>
              <a:rPr 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</a:t>
            </a:r>
            <a:r>
              <a:rPr lang="zh-CN" alt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</a:t>
            </a:r>
            <a:endParaRPr lang="zh-CN" altLang="en-US" sz="1600" b="0" i="0" u="none" strike="noStrike" spc="200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2413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2159000" y="228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产品定义</a:t>
            </a:r>
            <a:endParaRPr lang="en-US" sz="2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223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477000" y="2413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0" y="228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</a:t>
            </a: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en-US" sz="2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4572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2159000" y="4445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</a:t>
            </a:r>
            <a:endParaRPr lang="en-US" sz="2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223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477000" y="4572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7620000" y="4445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UX</a:t>
            </a:r>
            <a:r>
              <a:rPr lang="zh-CN" altLang="en-US" sz="2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2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spc="3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 Definition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0970" y="1397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635" y="31877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智能质检终端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5857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面向机械加工质检员，提供从图纸导入到检验卡导出的全流程平台支持。核心价值在于自动识别图纸中的尺寸、公差等质量特征，减少人工读图和填表时间。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91715"/>
            <a:ext cx="5013325" cy="3760470"/>
          </a:xfrm>
          <a:prstGeom prst="rect">
            <a:avLst/>
          </a:prstGeom>
        </p:spPr>
      </p:pic>
      <p:sp>
        <p:nvSpPr>
          <p:cNvPr id="18" name="AutoShape 4"/>
          <p:cNvSpPr/>
          <p:nvPr/>
        </p:nvSpPr>
        <p:spPr>
          <a:xfrm>
            <a:off x="6079490" y="2211070"/>
            <a:ext cx="5351145" cy="3760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zh-CN" alt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产品核心功能：</a:t>
            </a:r>
            <a:endParaRPr lang="zh-CN" altLang="en-US" sz="20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200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200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支持机械图纸的导入、预处理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与显示；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、支持识别图纸中的尺寸、公差和技术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要求等质检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特征；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、支持生成带序号标注的电子图纸（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气泡图）；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、支持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自定义标准化检验卡模板，并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支持根据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图纸识别结果一键生成标准化的检验卡；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、支持气泡图、检验卡及模板的打印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输出。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</a:t>
            </a: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SCENARIO ANALYSIS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335" y="825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86130" y="3460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智能质检终端使用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42010" y="2239645"/>
            <a:ext cx="1803400" cy="120840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、支持用户登录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、支持用户登出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924560" y="131318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740900" y="131318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检验卡模板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定制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536815" y="131318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图纸评估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预处理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332730" y="131318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导入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图纸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128645" y="131318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新建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工程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740900" y="359791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图纸智能识别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128645" y="359791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检验卡与气泡图导出与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打印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332730" y="359791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生成检验卡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24560" y="359791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登出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7541895" y="359791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气泡图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1" name="直接箭头连接符 30"/>
          <p:cNvCxnSpPr>
            <a:stCxn id="16" idx="3"/>
            <a:endCxn id="22" idx="1"/>
          </p:cNvCxnSpPr>
          <p:nvPr/>
        </p:nvCxnSpPr>
        <p:spPr>
          <a:xfrm>
            <a:off x="2614295" y="170116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2" idx="3"/>
          </p:cNvCxnSpPr>
          <p:nvPr/>
        </p:nvCxnSpPr>
        <p:spPr>
          <a:xfrm>
            <a:off x="4818380" y="170116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7022465" y="170116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9226550" y="170116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3" idx="1"/>
            <a:endCxn id="30" idx="3"/>
          </p:cNvCxnSpPr>
          <p:nvPr/>
        </p:nvCxnSpPr>
        <p:spPr>
          <a:xfrm flipH="1">
            <a:off x="9231630" y="3985895"/>
            <a:ext cx="5092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4" idx="1"/>
            <a:endCxn id="26" idx="3"/>
          </p:cNvCxnSpPr>
          <p:nvPr/>
        </p:nvCxnSpPr>
        <p:spPr>
          <a:xfrm flipH="1">
            <a:off x="2614295" y="398589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5" idx="1"/>
            <a:endCxn id="24" idx="3"/>
          </p:cNvCxnSpPr>
          <p:nvPr/>
        </p:nvCxnSpPr>
        <p:spPr>
          <a:xfrm flipH="1">
            <a:off x="4818380" y="3985895"/>
            <a:ext cx="514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0" idx="1"/>
            <a:endCxn id="25" idx="3"/>
          </p:cNvCxnSpPr>
          <p:nvPr/>
        </p:nvCxnSpPr>
        <p:spPr>
          <a:xfrm flipH="1">
            <a:off x="7022465" y="3985895"/>
            <a:ext cx="5194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19" idx="3"/>
            <a:endCxn id="23" idx="3"/>
          </p:cNvCxnSpPr>
          <p:nvPr/>
        </p:nvCxnSpPr>
        <p:spPr>
          <a:xfrm>
            <a:off x="11430635" y="1701165"/>
            <a:ext cx="3175" cy="2284730"/>
          </a:xfrm>
          <a:prstGeom prst="bentConnector3">
            <a:avLst>
              <a:gd name="adj1" fmla="val 75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924560" y="4505960"/>
            <a:ext cx="1689735" cy="775970"/>
          </a:xfrm>
          <a:prstGeom prst="round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系统权限与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肘形连接符 43"/>
          <p:cNvCxnSpPr>
            <a:stCxn id="16" idx="1"/>
            <a:endCxn id="43" idx="1"/>
          </p:cNvCxnSpPr>
          <p:nvPr/>
        </p:nvCxnSpPr>
        <p:spPr>
          <a:xfrm rot="10800000" flipH="1" flipV="1">
            <a:off x="924560" y="1701165"/>
            <a:ext cx="3175" cy="3192780"/>
          </a:xfrm>
          <a:prstGeom prst="bentConnector3">
            <a:avLst>
              <a:gd name="adj1" fmla="val -75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AutoShape 5"/>
          <p:cNvSpPr/>
          <p:nvPr/>
        </p:nvSpPr>
        <p:spPr>
          <a:xfrm>
            <a:off x="842010" y="5414010"/>
            <a:ext cx="1803400" cy="1126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、支持用户权限设置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、支持用户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、支持系统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AutoShape 5"/>
          <p:cNvSpPr/>
          <p:nvPr/>
        </p:nvSpPr>
        <p:spPr>
          <a:xfrm>
            <a:off x="3072130" y="222059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、支持工程新建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、支持历史工程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打开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、支持工程保存与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关闭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、支持历史工程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列表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AutoShape 5"/>
          <p:cNvSpPr/>
          <p:nvPr/>
        </p:nvSpPr>
        <p:spPr>
          <a:xfrm>
            <a:off x="5277485" y="221424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、支持多种格式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、支持纸质图纸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扫描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、支持多份图纸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、支持同时新建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AutoShape 5"/>
          <p:cNvSpPr/>
          <p:nvPr/>
        </p:nvSpPr>
        <p:spPr>
          <a:xfrm>
            <a:off x="9688195" y="221424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、支持模板新建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与导入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支持模板编辑与保存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多模板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、支持预览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打印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AutoShape 5"/>
          <p:cNvSpPr/>
          <p:nvPr/>
        </p:nvSpPr>
        <p:spPr>
          <a:xfrm>
            <a:off x="7482840" y="221424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、支持图纸质量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、支持图纸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预处理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1" name="肘形连接符 40"/>
          <p:cNvCxnSpPr>
            <a:stCxn id="24" idx="0"/>
            <a:endCxn id="30" idx="0"/>
          </p:cNvCxnSpPr>
          <p:nvPr/>
        </p:nvCxnSpPr>
        <p:spPr>
          <a:xfrm rot="16200000" flipH="1">
            <a:off x="6180455" y="1391285"/>
            <a:ext cx="3175" cy="4413250"/>
          </a:xfrm>
          <a:prstGeom prst="bentConnector3">
            <a:avLst>
              <a:gd name="adj1" fmla="val -7450000"/>
            </a:avLst>
          </a:prstGeom>
          <a:ln w="31750" cap="rnd">
            <a:solidFill>
              <a:schemeClr val="accent1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AutoShape 5"/>
          <p:cNvSpPr/>
          <p:nvPr/>
        </p:nvSpPr>
        <p:spPr>
          <a:xfrm>
            <a:off x="9688195" y="4526915"/>
            <a:ext cx="1803400" cy="155130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、支持全图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、支持框选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、支持人工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数据校准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、支持数据格式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校验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、识别数据列表可见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AutoShape 5"/>
          <p:cNvSpPr/>
          <p:nvPr/>
        </p:nvSpPr>
        <p:spPr>
          <a:xfrm>
            <a:off x="7482840" y="452691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、支持气泡手工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、支持气泡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编辑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AutoShape 5"/>
          <p:cNvSpPr/>
          <p:nvPr/>
        </p:nvSpPr>
        <p:spPr>
          <a:xfrm>
            <a:off x="5277485" y="452691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、支持选择检验卡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、支持数据自动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填充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AutoShape 5"/>
          <p:cNvSpPr/>
          <p:nvPr/>
        </p:nvSpPr>
        <p:spPr>
          <a:xfrm>
            <a:off x="3072130" y="4526915"/>
            <a:ext cx="1803400" cy="123063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t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、支持检验卡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、支持气泡图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、支持预览与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打印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444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86130" y="3460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智能质检终端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DFX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40080" y="1303020"/>
            <a:ext cx="2082800" cy="4742815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0" y="1557020"/>
            <a:ext cx="406400" cy="4064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843280" y="206502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843280" y="2636520"/>
            <a:ext cx="1676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843280" y="2827020"/>
            <a:ext cx="1676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、图纸加载不超过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秒，图像操作流畅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不卡顿；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2、单张图纸识别响应时间不超过20秒；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3、系统应支持单个工程内包含至少</a:t>
            </a:r>
            <a:r>
              <a:rPr lang="en-US" altLang="zh-CN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15</a:t>
            </a: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张图纸，图纸切换流畅；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4、系统在空闲状态下内存占用不宜超过300MB，在处理大图纸或执行识别时峰值内存不超过1GB。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2862580" y="1303020"/>
            <a:ext cx="2082800" cy="4742815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5780" y="1557020"/>
            <a:ext cx="406400" cy="406400"/>
          </a:xfrm>
          <a:prstGeom prst="rect">
            <a:avLst/>
          </a:prstGeom>
        </p:spPr>
      </p:pic>
      <p:sp>
        <p:nvSpPr>
          <p:cNvPr id="12" name="AutoShape 11"/>
          <p:cNvSpPr/>
          <p:nvPr>
            <p:custDataLst>
              <p:tags r:id="rId13"/>
            </p:custDataLst>
          </p:nvPr>
        </p:nvSpPr>
        <p:spPr>
          <a:xfrm>
            <a:off x="3065780" y="206502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2"/>
          <p:cNvSpPr/>
          <p:nvPr>
            <p:custDataLst>
              <p:tags r:id="rId14"/>
            </p:custDataLst>
          </p:nvPr>
        </p:nvSpPr>
        <p:spPr>
          <a:xfrm>
            <a:off x="3065780" y="2636520"/>
            <a:ext cx="1676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4" name="AutoShape 13"/>
          <p:cNvSpPr/>
          <p:nvPr>
            <p:custDataLst>
              <p:tags r:id="rId15"/>
            </p:custDataLst>
          </p:nvPr>
        </p:nvSpPr>
        <p:spPr>
          <a:xfrm>
            <a:off x="3065780" y="2827020"/>
            <a:ext cx="1676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、出现异常时不应整个软件崩溃，并在可能的情况下自动恢复或给出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恢复路径，核心数据不丢失；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2、数据存储保证完整性和一致性；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3、在长时间连续使用、持续打开多个工程、反复切换图纸、多次执行识别情况下，软件响应速度无明显衰减，不出现卡顿或崩溃。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4"/>
          <p:cNvSpPr/>
          <p:nvPr>
            <p:custDataLst>
              <p:tags r:id="rId16"/>
            </p:custDataLst>
          </p:nvPr>
        </p:nvSpPr>
        <p:spPr>
          <a:xfrm>
            <a:off x="5085080" y="1303020"/>
            <a:ext cx="2082800" cy="4742815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88280" y="1557020"/>
            <a:ext cx="406400" cy="406400"/>
          </a:xfrm>
          <a:prstGeom prst="rect">
            <a:avLst/>
          </a:prstGeom>
        </p:spPr>
      </p:pic>
      <p:sp>
        <p:nvSpPr>
          <p:cNvPr id="18" name="AutoShape 16"/>
          <p:cNvSpPr/>
          <p:nvPr>
            <p:custDataLst>
              <p:tags r:id="rId20"/>
            </p:custDataLst>
          </p:nvPr>
        </p:nvSpPr>
        <p:spPr>
          <a:xfrm>
            <a:off x="5288280" y="206502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7"/>
          <p:cNvSpPr/>
          <p:nvPr>
            <p:custDataLst>
              <p:tags r:id="rId21"/>
            </p:custDataLst>
          </p:nvPr>
        </p:nvSpPr>
        <p:spPr>
          <a:xfrm>
            <a:off x="5288280" y="2636520"/>
            <a:ext cx="1676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8" name="AutoShape 18"/>
          <p:cNvSpPr/>
          <p:nvPr>
            <p:custDataLst>
              <p:tags r:id="rId22"/>
            </p:custDataLst>
          </p:nvPr>
        </p:nvSpPr>
        <p:spPr>
          <a:xfrm>
            <a:off x="5288280" y="2827020"/>
            <a:ext cx="1676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、不以明文存储敏感保密数据，通信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、用户分级权限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、建立固件与软件的可信更新机制，强制校验更新包的数字签名与完整性；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17000"/>
              </a:lnSpc>
              <a:buSzTx/>
              <a:buNone/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4、严格访问控制，对物理USB接口实施白名单，限制非法读写；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17000"/>
              </a:lnSpc>
              <a:buSzTx/>
              <a:buNone/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5、使用业界通用安全工具扫描不应出现安全漏洞。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19"/>
          <p:cNvSpPr/>
          <p:nvPr>
            <p:custDataLst>
              <p:tags r:id="rId23"/>
            </p:custDataLst>
          </p:nvPr>
        </p:nvSpPr>
        <p:spPr>
          <a:xfrm>
            <a:off x="7307580" y="1303020"/>
            <a:ext cx="2082800" cy="4742815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2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10780" y="1557020"/>
            <a:ext cx="406400" cy="406400"/>
          </a:xfrm>
          <a:prstGeom prst="rect">
            <a:avLst/>
          </a:prstGeom>
        </p:spPr>
      </p:pic>
      <p:sp>
        <p:nvSpPr>
          <p:cNvPr id="36" name="AutoShape 21"/>
          <p:cNvSpPr/>
          <p:nvPr>
            <p:custDataLst>
              <p:tags r:id="rId27"/>
            </p:custDataLst>
          </p:nvPr>
        </p:nvSpPr>
        <p:spPr>
          <a:xfrm>
            <a:off x="7510780" y="206502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</a:t>
            </a:r>
            <a:r>
              <a:rPr lang="en-US" altLang="zh-CN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3" name="AutoShape 22"/>
          <p:cNvSpPr/>
          <p:nvPr>
            <p:custDataLst>
              <p:tags r:id="rId28"/>
            </p:custDataLst>
          </p:nvPr>
        </p:nvSpPr>
        <p:spPr>
          <a:xfrm>
            <a:off x="7510780" y="2636520"/>
            <a:ext cx="1676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5" name="AutoShape 23"/>
          <p:cNvSpPr/>
          <p:nvPr>
            <p:custDataLst>
              <p:tags r:id="rId29"/>
            </p:custDataLst>
          </p:nvPr>
        </p:nvSpPr>
        <p:spPr>
          <a:xfrm>
            <a:off x="7510780" y="2827020"/>
            <a:ext cx="1676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、所有可变的运行时参数应存放在外部配置文件中，运维人员可在不重新编译软件的情况下调整这些参数；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2、系统应实现分级日志机制（DEBUG / INFO / WARN / ERROR），默认运行级别为INFO以控制日志体积。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6" name="AutoShape 24"/>
          <p:cNvSpPr/>
          <p:nvPr>
            <p:custDataLst>
              <p:tags r:id="rId30"/>
            </p:custDataLst>
          </p:nvPr>
        </p:nvSpPr>
        <p:spPr>
          <a:xfrm>
            <a:off x="9530080" y="1303020"/>
            <a:ext cx="2082800" cy="4742815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7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33280" y="1557020"/>
            <a:ext cx="406400" cy="406400"/>
          </a:xfrm>
          <a:prstGeom prst="rect">
            <a:avLst/>
          </a:prstGeom>
        </p:spPr>
      </p:pic>
      <p:sp>
        <p:nvSpPr>
          <p:cNvPr id="58" name="AutoShape 26"/>
          <p:cNvSpPr/>
          <p:nvPr>
            <p:custDataLst>
              <p:tags r:id="rId34"/>
            </p:custDataLst>
          </p:nvPr>
        </p:nvSpPr>
        <p:spPr>
          <a:xfrm>
            <a:off x="9733280" y="206502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易用性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9" name="AutoShape 27"/>
          <p:cNvSpPr/>
          <p:nvPr>
            <p:custDataLst>
              <p:tags r:id="rId35"/>
            </p:custDataLst>
          </p:nvPr>
        </p:nvSpPr>
        <p:spPr>
          <a:xfrm>
            <a:off x="9733280" y="2636520"/>
            <a:ext cx="16764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60" name="AutoShape 28"/>
          <p:cNvSpPr/>
          <p:nvPr>
            <p:custDataLst>
              <p:tags r:id="rId36"/>
            </p:custDataLst>
          </p:nvPr>
        </p:nvSpPr>
        <p:spPr>
          <a:xfrm>
            <a:off x="9733280" y="2827020"/>
            <a:ext cx="1676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、软件首次启动或未打开任何工程时，主工作区应展示引导提示，降低新用户的学习成本；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2、所有用户操作（点击按钮、切换图纸、保存、识别、导出等）应给出明确的视觉或文字反馈；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3、为高频操作提供键盘快捷键支持，以提升熟练用户的操作效率。</a:t>
            </a:r>
            <a:endParaRPr lang="zh-CN" alt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143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86130" y="3460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外部软件依赖与版权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</a:t>
            </a:r>
            <a:endParaRPr lang="zh-CN" altLang="en-US" sz="3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5"/>
          <p:cNvSpPr/>
          <p:nvPr/>
        </p:nvSpPr>
        <p:spPr>
          <a:xfrm>
            <a:off x="762000" y="13970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核心系统依赖</a:t>
            </a:r>
            <a:endParaRPr lang="en-US" sz="1100"/>
          </a:p>
        </p:txBody>
      </p:sp>
      <p:sp>
        <p:nvSpPr>
          <p:cNvPr id="20" name="AutoShape 6"/>
          <p:cNvSpPr/>
          <p:nvPr/>
        </p:nvSpPr>
        <p:spPr>
          <a:xfrm>
            <a:off x="762000" y="1905000"/>
            <a:ext cx="508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1" name="AutoShape 7"/>
          <p:cNvSpPr/>
          <p:nvPr/>
        </p:nvSpPr>
        <p:spPr>
          <a:xfrm>
            <a:off x="762000" y="2286000"/>
            <a:ext cx="5270500" cy="264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76500"/>
            <a:ext cx="355600" cy="355600"/>
          </a:xfrm>
          <a:prstGeom prst="rect">
            <a:avLst/>
          </a:prstGeom>
        </p:spPr>
      </p:pic>
      <p:sp>
        <p:nvSpPr>
          <p:cNvPr id="23" name="AutoShape 9"/>
          <p:cNvSpPr/>
          <p:nvPr/>
        </p:nvSpPr>
        <p:spPr>
          <a:xfrm>
            <a:off x="1460500" y="2476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 (OS) </a:t>
            </a:r>
            <a:endParaRPr lang="en-US" sz="1100"/>
          </a:p>
        </p:txBody>
      </p:sp>
      <p:sp>
        <p:nvSpPr>
          <p:cNvPr id="24" name="AutoShape 10"/>
          <p:cNvSpPr/>
          <p:nvPr/>
        </p:nvSpPr>
        <p:spPr>
          <a:xfrm>
            <a:off x="952500" y="29464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选型嵌入式Linux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需严格遵循GPL/LGPL开源协议，主动提供源码访问路径；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使用Windows商业发行版，必须完成正版授权采购以规避法律风险。</a:t>
            </a:r>
            <a:endParaRPr lang="en-US" sz="1100"/>
          </a:p>
        </p:txBody>
      </p:sp>
      <p:sp>
        <p:nvSpPr>
          <p:cNvPr id="33" name="AutoShape 15"/>
          <p:cNvSpPr/>
          <p:nvPr/>
        </p:nvSpPr>
        <p:spPr>
          <a:xfrm>
            <a:off x="6286500" y="13970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应用与工具依赖</a:t>
            </a:r>
            <a:endParaRPr lang="en-US" sz="1100"/>
          </a:p>
        </p:txBody>
      </p:sp>
      <p:sp>
        <p:nvSpPr>
          <p:cNvPr id="34" name="AutoShape 16"/>
          <p:cNvSpPr/>
          <p:nvPr/>
        </p:nvSpPr>
        <p:spPr>
          <a:xfrm>
            <a:off x="6286500" y="1905000"/>
            <a:ext cx="508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5" name="AutoShape 17"/>
          <p:cNvSpPr/>
          <p:nvPr>
            <p:custDataLst>
              <p:tags r:id="rId4"/>
            </p:custDataLst>
          </p:nvPr>
        </p:nvSpPr>
        <p:spPr>
          <a:xfrm>
            <a:off x="6286500" y="2286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438400"/>
            <a:ext cx="304800" cy="304800"/>
          </a:xfrm>
          <a:prstGeom prst="rect">
            <a:avLst/>
          </a:prstGeom>
        </p:spPr>
      </p:pic>
      <p:sp>
        <p:nvSpPr>
          <p:cNvPr id="38" name="AutoShape 19"/>
          <p:cNvSpPr/>
          <p:nvPr>
            <p:custDataLst>
              <p:tags r:id="rId8"/>
            </p:custDataLst>
          </p:nvPr>
        </p:nvSpPr>
        <p:spPr>
          <a:xfrm>
            <a:off x="6921500" y="24384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PDF/图片</a:t>
            </a:r>
            <a:r>
              <a:rPr lang="zh-CN" alt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</a:t>
            </a:r>
            <a:endParaRPr lang="zh-CN" altLang="en-US" sz="15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AutoShape 20"/>
          <p:cNvSpPr/>
          <p:nvPr>
            <p:custDataLst>
              <p:tags r:id="rId9"/>
            </p:custDataLst>
          </p:nvPr>
        </p:nvSpPr>
        <p:spPr>
          <a:xfrm>
            <a:off x="6477000" y="28448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不涉及</a:t>
            </a: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40" name="AutoShape 21"/>
          <p:cNvSpPr/>
          <p:nvPr>
            <p:custDataLst>
              <p:tags r:id="rId10"/>
            </p:custDataLst>
          </p:nvPr>
        </p:nvSpPr>
        <p:spPr>
          <a:xfrm>
            <a:off x="6286500" y="36576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" name="Picture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810000"/>
            <a:ext cx="304800" cy="304800"/>
          </a:xfrm>
          <a:prstGeom prst="rect">
            <a:avLst/>
          </a:prstGeom>
        </p:spPr>
      </p:pic>
      <p:sp>
        <p:nvSpPr>
          <p:cNvPr id="42" name="AutoShape 23"/>
          <p:cNvSpPr/>
          <p:nvPr>
            <p:custDataLst>
              <p:tags r:id="rId14"/>
            </p:custDataLst>
          </p:nvPr>
        </p:nvSpPr>
        <p:spPr>
          <a:xfrm>
            <a:off x="6921500" y="38100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电子表格</a:t>
            </a:r>
            <a:r>
              <a:rPr lang="zh-CN" alt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endParaRPr lang="zh-CN" altLang="en-US" sz="15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24"/>
          <p:cNvSpPr/>
          <p:nvPr>
            <p:custDataLst>
              <p:tags r:id="rId15"/>
            </p:custDataLst>
          </p:nvPr>
        </p:nvSpPr>
        <p:spPr>
          <a:xfrm>
            <a:off x="6477000" y="42164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不涉及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06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Architecture Design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482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硬件架构设计</a:t>
            </a:r>
            <a:endParaRPr lang="en-US" sz="1100"/>
          </a:p>
        </p:txBody>
      </p:sp>
      <p:sp>
        <p:nvSpPr>
          <p:cNvPr id="27" name="AutoShape 6"/>
          <p:cNvSpPr/>
          <p:nvPr/>
        </p:nvSpPr>
        <p:spPr>
          <a:xfrm>
            <a:off x="1651000" y="1846580"/>
            <a:ext cx="8890000" cy="1143000"/>
          </a:xfrm>
          <a:prstGeom prst="roundRect">
            <a:avLst>
              <a:gd name="adj" fmla="val 17777"/>
            </a:avLst>
          </a:prstGeom>
          <a:solidFill>
            <a:srgbClr val="EBF5FF">
              <a:alpha val="100000"/>
            </a:srgbClr>
          </a:solidFill>
          <a:ln w="25400" cap="flat" cmpd="sng">
            <a:solidFill>
              <a:srgbClr val="0066AA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66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交互与应用层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Windows定制化UI界面 | 触控模式：粗略浏览 | 键鼠模式：精细编辑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7"/>
          <p:cNvSpPr/>
          <p:nvPr/>
        </p:nvSpPr>
        <p:spPr>
          <a:xfrm>
            <a:off x="5842000" y="3053080"/>
            <a:ext cx="508000" cy="381000"/>
          </a:xfrm>
          <a:prstGeom prst="downArrow">
            <a:avLst/>
          </a:prstGeom>
          <a:solidFill>
            <a:srgbClr val="B4BE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9" name="AutoShape 8"/>
          <p:cNvSpPr/>
          <p:nvPr/>
        </p:nvSpPr>
        <p:spPr>
          <a:xfrm>
            <a:off x="1651000" y="3497580"/>
            <a:ext cx="8890000" cy="1397000"/>
          </a:xfrm>
          <a:prstGeom prst="roundRect">
            <a:avLst>
              <a:gd name="adj" fmla="val 14545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96A0AA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52400" rIns="254000" bIns="15240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边缘计算层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硬件算力 (Intel i5-12400F + RTX1650) • 操作系统 • AI视觉算法引擎 (OCR/目标检测)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业务逻辑中间件 • 设备驱动管理 • TPM安全芯片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9"/>
          <p:cNvSpPr/>
          <p:nvPr/>
        </p:nvSpPr>
        <p:spPr>
          <a:xfrm>
            <a:off x="5842000" y="4958080"/>
            <a:ext cx="508000" cy="381000"/>
          </a:xfrm>
          <a:prstGeom prst="downArrow">
            <a:avLst/>
          </a:prstGeom>
          <a:solidFill>
            <a:srgbClr val="B4BE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1" name="AutoShape 10"/>
          <p:cNvSpPr/>
          <p:nvPr/>
        </p:nvSpPr>
        <p:spPr>
          <a:xfrm>
            <a:off x="1651000" y="5402580"/>
            <a:ext cx="8890000" cy="1016000"/>
          </a:xfrm>
          <a:prstGeom prst="roundRect">
            <a:avLst>
              <a:gd name="adj" fmla="val 2000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96A0AA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27000" rIns="254000" bIns="127000" rtlCol="0" anchor="ctr" anchorCtr="0"/>
          <a:p>
            <a:pPr marL="0"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感知与执行层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输入：高精度平板扫描仪</a:t>
            </a:r>
            <a:r>
              <a:rPr lang="zh-CN" alt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</a:t>
            </a:r>
            <a:r>
              <a:rPr lang="zh-CN" alt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</a:t>
            </a: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• 输出：A4黑白激光打印机 • 输出：21.5寸电容触摸屏+隐藏式有线键鼠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5"/>
          <p:cNvSpPr/>
          <p:nvPr/>
        </p:nvSpPr>
        <p:spPr>
          <a:xfrm>
            <a:off x="1016000" y="97599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系统采用经典的三层逻辑架构设计，自上而下实现数据采集、智能运算与交互展示的全流程闭环，构建稳定、高效的智能质检技术底座。</a:t>
            </a:r>
            <a:endParaRPr 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0861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3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02362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以“工程与图纸管理模块”为核心交互中枢，纵向贯通权限配置与系统设置，横向联动图纸预处理与智能识别引擎，向下支撑检验卡的全生命周期管理，构建起“解析-识别-管控-输出”的一体化智能质检闭环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3399" b="3399"/>
          <a:stretch>
            <a:fillRect/>
          </a:stretch>
        </p:blipFill>
        <p:spPr>
          <a:xfrm>
            <a:off x="3048000" y="2039620"/>
            <a:ext cx="6096000" cy="31115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5341620"/>
            <a:ext cx="3378200" cy="952500"/>
          </a:xfrm>
          <a:prstGeom prst="roundRect">
            <a:avLst>
              <a:gd name="adj" fmla="val 0"/>
            </a:avLst>
          </a:prstGeom>
          <a:solidFill>
            <a:srgbClr val="0066AA">
              <a:alpha val="5000"/>
            </a:srgbClr>
          </a:solidFill>
          <a:ln w="12700" cap="flat" cmpd="sng">
            <a:solidFill>
              <a:srgbClr val="0066A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50672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71600" y="546862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66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智能识别引擎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基于视觉算法自动解析图纸特征，精准提取尺寸、形位公差等质检要素，替代人工识图。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06900" y="5341620"/>
            <a:ext cx="3378200" cy="952500"/>
          </a:xfrm>
          <a:prstGeom prst="roundRect">
            <a:avLst>
              <a:gd name="adj" fmla="val 0"/>
            </a:avLst>
          </a:prstGeom>
          <a:solidFill>
            <a:srgbClr val="0066AA">
              <a:alpha val="5000"/>
            </a:srgbClr>
          </a:solidFill>
          <a:ln w="12700" cap="flat" cmpd="sng">
            <a:solidFill>
              <a:srgbClr val="0066A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7400" y="550672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16500" y="546862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66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工程交互中枢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作为系统主UI，统筹图纸版本管理、质检任务派发与全流程可视化调度，实现高效协同。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51800" y="5341620"/>
            <a:ext cx="3378200" cy="952500"/>
          </a:xfrm>
          <a:prstGeom prst="roundRect">
            <a:avLst>
              <a:gd name="adj" fmla="val 0"/>
            </a:avLst>
          </a:prstGeom>
          <a:solidFill>
            <a:srgbClr val="0066AA">
              <a:alpha val="5000"/>
            </a:srgbClr>
          </a:solidFill>
          <a:ln w="12700" cap="flat" cmpd="sng">
            <a:solidFill>
              <a:srgbClr val="0066A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2300" y="550672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61400" y="546862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66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检验闭环管理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自动生成标准化检验卡，实时同步数据并一键输出合规质检报告，确保数据可追溯。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UX</a:t>
            </a: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 Experience Design</a:t>
            </a:r>
            <a:endParaRPr lang="en-US" sz="2200" spc="200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4064000"/>
            <a:ext cx="4064000" cy="4064000"/>
          </a:xfrm>
          <a:prstGeom prst="ellipse">
            <a:avLst/>
          </a:prstGeom>
          <a:solidFill>
            <a:srgbClr val="22C55E">
              <a:alpha val="7000"/>
            </a:srgbClr>
          </a:solidFill>
          <a:ln cap="flat" cmpd="sng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0" y="-1016000"/>
            <a:ext cx="3048000" cy="3048000"/>
          </a:xfrm>
          <a:prstGeom prst="ellipse">
            <a:avLst/>
          </a:prstGeom>
          <a:solidFill>
            <a:srgbClr val="22C55E">
              <a:alpha val="7000"/>
            </a:srgbClr>
          </a:solidFill>
          <a:ln cap="flat" cmpd="sng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98500" y="37909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UX设计目标与核心原则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192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设计目标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269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21742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2174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 Efficiency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6619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简化操作流程，减少用户认知负荷，让用户在最短时间内完成核心任务，提升操作效率。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0269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21742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64000" y="22174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易学性 Learnability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6619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界面布局直观易懂，交互逻辑符合用户习惯与直觉，新用户无需复杂培训即可快速上手。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954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18592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1859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容错性 Error Tolerance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6304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预判潜在误操作，提供清晰的错误提示和便捷的撤销/回退机制，降低用户的操作风险。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92500" y="39954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18592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64000" y="41859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满意度 Satisfaction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83000" y="46304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兼顾视觉美学与流畅交互体验，通过及时的视觉反馈和精致的细节，提升用户的愉悦感。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39192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核心原则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20269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21742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22174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一致性 Consistency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26619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建立统一的设计语言，确保图标、色彩、交互模式和布局规范在全产品中保持一致。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53500" y="20269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0" y="221742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525000" y="22174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反馈 Feedback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44000" y="26619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对用户的每一次点击、输入或操作，提供即时、明确的视觉或听觉反馈，确认操作已生效。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39954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18592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794500" y="41859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 Clarity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13500" y="46304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构建清晰的信息层级，突出核心内容与关键行动点，避免无关信息干扰，降低理解成本。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953500" y="399542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4000" y="418592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525000" y="418592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可访问性 Accessibility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144000" y="463042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遵循WCAG无障碍标准，优化色彩对比度、键盘导航等，确保不同能力的用户均可顺畅使用。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22796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86130" y="34607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UX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设计原型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</a:t>
            </a:r>
            <a:endParaRPr lang="zh-CN" altLang="en-US" sz="3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1108075"/>
            <a:ext cx="10512425" cy="5280660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8634730" y="346075"/>
            <a:ext cx="2018665" cy="762635"/>
          </a:xfrm>
          <a:prstGeom prst="wedgeRoundRectCallout">
            <a:avLst>
              <a:gd name="adj1" fmla="val -63526"/>
              <a:gd name="adj2" fmla="val 197210"/>
              <a:gd name="adj3" fmla="val 16667"/>
            </a:avLst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核心操作区域</a:t>
            </a:r>
            <a:endParaRPr lang="zh-CN" altLang="en-US" sz="1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770120" y="228600"/>
            <a:ext cx="2018665" cy="752475"/>
          </a:xfrm>
          <a:prstGeom prst="wedgeRoundRectCallout">
            <a:avLst>
              <a:gd name="adj1" fmla="val -65036"/>
              <a:gd name="adj2" fmla="val 91012"/>
              <a:gd name="adj3" fmla="val 16667"/>
            </a:avLst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功能区域</a:t>
            </a:r>
            <a:endParaRPr lang="zh-CN" altLang="en-US" sz="1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2209800" y="2980055"/>
            <a:ext cx="2018665" cy="752475"/>
          </a:xfrm>
          <a:prstGeom prst="wedgeRoundRectCallout">
            <a:avLst>
              <a:gd name="adj1" fmla="val -65791"/>
              <a:gd name="adj2" fmla="val -130843"/>
              <a:gd name="adj3" fmla="val 16667"/>
            </a:avLst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节点导航</a:t>
            </a:r>
            <a:r>
              <a:rPr lang="zh-CN" altLang="en-US"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区域</a:t>
            </a:r>
            <a:endParaRPr lang="zh-CN" altLang="en-US" sz="1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524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欢迎随时提问与交流，共同探讨更多可能性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2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3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4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5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6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7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8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9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10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11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12.xml><?xml version="1.0" encoding="utf-8"?>
<p:tagLst xmlns:p="http://schemas.openxmlformats.org/presentationml/2006/main">
  <p:tag name="KSO_WM_DIAGRAM_VIRTUALLY_FRAME" val="{&quot;height&quot;:315,&quot;left&quot;:60,&quot;top&quot;:160,&quot;width&quot;:845}"/>
</p:tagLst>
</file>

<file path=ppt/tags/tag13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4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5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6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7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8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19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0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1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2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3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4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5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6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7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8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29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0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1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2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3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4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5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6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7.xml><?xml version="1.0" encoding="utf-8"?>
<p:tagLst xmlns:p="http://schemas.openxmlformats.org/presentationml/2006/main">
  <p:tag name="KSO_WM_DIAGRAM_VIRTUALLY_FRAME" val="{&quot;height&quot;:373.45,&quot;left&quot;:50.4,&quot;top&quot;:102.6,&quot;width&quot;:873.6}"/>
</p:tagLst>
</file>

<file path=ppt/tags/tag38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39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0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1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2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3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4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ags/tag45.xml><?xml version="1.0" encoding="utf-8"?>
<p:tagLst xmlns:p="http://schemas.openxmlformats.org/presentationml/2006/main">
  <p:tag name="KSO_WM_DIAGRAM_VIRTUALLY_FRAME" val="{&quot;height&quot;:208,&quot;left&quot;:495,&quot;top&quot;:180,&quot;width&quot;:41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2517</Words>
  <Application>WPS 演示</Application>
  <PresentationFormat/>
  <Paragraphs>263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SKY</cp:lastModifiedBy>
  <cp:revision>9</cp:revision>
  <dcterms:created xsi:type="dcterms:W3CDTF">2026-08-06T09:57:00Z</dcterms:created>
  <dcterms:modified xsi:type="dcterms:W3CDTF">2026-08-11T08:11:05Z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{"Label":"1","ContentProducer":"001191110102MACQD9K64010000","ProduceID":"7670450943837998036","ReservedCode1":"","ContentPropagator":"","PropagateID":"","ReservedCode2":""}</vt:lpwstr>
  </property>
  <property fmtid="{D5CDD505-2E9C-101B-9397-08002B2CF9AE}" pid="3" name="ICV">
    <vt:lpwstr>C580731EC64A46D18D58307ED8982D80_12</vt:lpwstr>
  </property>
  <property fmtid="{D5CDD505-2E9C-101B-9397-08002B2CF9AE}" pid="4" name="KSOProductBuildVer">
    <vt:lpwstr>2052-12.1.0.28022</vt:lpwstr>
  </property>
</Properties>
</file>